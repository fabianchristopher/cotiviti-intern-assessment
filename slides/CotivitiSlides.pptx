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oppins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Inter-regular.fntdata"/><Relationship Id="rId16" Type="http://schemas.openxmlformats.org/officeDocument/2006/relationships/font" Target="fonts/Poppins-boldItalic.fntdata"/><Relationship Id="rId5" Type="http://schemas.openxmlformats.org/officeDocument/2006/relationships/slide" Target="slides/slide1.xml"/><Relationship Id="rId19" Type="http://schemas.openxmlformats.org/officeDocument/2006/relationships/font" Target="fonts/Inter-italic.fntdata"/><Relationship Id="rId6" Type="http://schemas.openxmlformats.org/officeDocument/2006/relationships/slide" Target="slides/slide2.xml"/><Relationship Id="rId18" Type="http://schemas.openxmlformats.org/officeDocument/2006/relationships/font" Target="fonts/Inter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 — Title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Heading: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"Hi, I'm Fabian Christopher, a Master's Graduate from Northeastern University."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Subheading: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"For this assessment, I chose to go beyond a written analysis — I built a working proof of concept alongside it, and I'll be walking you through both today."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br>
              <a:rPr lang="en-US"/>
            </a:b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2 — Topic Definition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Heading: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"My topic is Clinical Decision Making and Pattern Recognition — in plain terms, the AI techniques healthcare organizations use to decide whether a claim, a treatment plan, or a staffing pattern looks normal or not."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Subheading: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"There are seven techniques under this umbrella — chain-of-thought reasoning, agentic AI, classification, prediction, inference, clustering, and anomaly detection — but I focused on one: agentic AI."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"This applies across Treatment, Payment, and Operations — or 'TPO' — which is actually the same framing Cotiviti uses internally."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"Specifically, I focused on a Generator–Critic pattern: one AI agent proposes a decision, and a second, independent agent audits it before it's treated as final."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"That second agent isn't just rubber-stamping the first — it can confirm the decision, or it can overturn it."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"And both agents reason against retrieved policy and guideline text, not just whatever they happened to learn during training."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3 — Trends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Heading: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"Three trends made this topic feel urgent rather than generic, and they're all happening at Cotiviti right now."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"First, the industry is shifting claim review earlier — away from looking back after payment, toward catching issues before. Cotiviti's own research has documented this shift."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"Second, agentic AI adoption is accelerating, but cautiously. Cotiviti's CTO has publicly said their strategy is to augment human reviewers, not replace them."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"Third, Cotiviti is consolidating its platform — they acquired Edifecs in 2025 to bring payment, risk adjustment, quality, and interoperability together."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"And their new CEO has publicly described his vision as building a 'frictionless ecosystem' — which is exactly the kind of unified platform an agentic review layer fits naturally into."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4 — Opportunities &amp; Threats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Heading: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"Like any new technology, this comes with real upside and real risk, and I wanted to be honest about both."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Opportunities: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"It produces an explainable, two-step audit trail for every decision — which matters enormously in a regulated, appeal-subject industry like healthcare payment."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"It's domain-agnostic — the same architecture that reviews a claim can review a coding decision or a quality measure."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"And it preserves the impact Cotiviti already delivers, while adding a check that reduces the chance of a costly false positive going uncaught."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Threats: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"Large language models can sound completely confident while still being wrong — and in this domain, that's not a tolerable failure mode."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"The audit step has to stay genuinely independent. If the second agent is just agreeing with the first, you haven't actually reduced risk."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"And relying on a single external AI vendor introduces a real commercial and continuity risk that any production deployment needs to plan for."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5 — Recommendations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Heading: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"Based on all of that, I landed on three scoped, realistic options for Cotiviti — not a full transformation roadmap."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"First, pilot this as an explainability overlay on an existing fraud, waste, and abuse workflow — adding a written audit trail without replacing what's already working."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"Second, extend the same pattern to risk-adjustment coding review — it's the architecture being reused, not rebuilt from scratch."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"Third, invest in lightweight, transparent retrieval before committing to heavier vector-database infrastructure — at Cotiviti's scale, simple and auditable may actually outperform complex."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Transition: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"And I didn't want to just propose this — I wanted to prove it works. So let me show you what I built."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6 — POC Architecture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Heading: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"This is the exact pattern I just described, actually running, end-to-end."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"It's a two-agent, retrieval-grounded pipeline — one agent proposes, the other independently audits, and both read the same retrieved reference material."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"You'll see four steps light up as you watch: Retrieval, then Analyst, then Auditor, then the final Verdict."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"And I want to be clear — these are three real, separately-timed network calls. Nothing you're about to see is a simulated delay; every loading indicator reflects work that's genuinely still happening."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"It's built with Next.js, TypeScript, and the Claude API."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"And I deliberately kept it simple — no orchestration framework, no vector database — because the assessment explicitly rewards basic technological competency over unnecessary complexity, and at this scale, the simpler tools were genuinely the right call, not a shortcut."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7 — Live Demo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Heading: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"Let me switch over and show you the live, deployed app — this isn't a recording or a local build, it's publicly live right now."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1 — Open the app: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"Here's the two-pane layout — sample records and upload on the left, the review progress on the right. And there's a light/dark toggle here if you prefer."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2 — Select a sample: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"I'll pick one of the six bundled sample records — these span all three TPO categories: a payment claim, a treatment note, and an operations log. I could just as easily upload my own file or paste text instead."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3 — Retrieval step: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"I'll click Run Review. Watch the first step — Retrieval — complete. If I click into it, you can see exactly which reference snippets were matched against this record."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4 — Analyst step: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"Now the Analyst step completes. Clicking in, you can see its decision, its certainty level, and exactly which reference snippets it cited in its reasoning."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5 — Auditor step: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"Here's the Auditor — it's independently reviewing the same record and the Analyst's full output, actively looking for gaps or overreach. [If overturned: 'And here — it actually overturned the Analyst's original call. That's the audit step doing real work, not just agreeing.']"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6 — Verdict: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"And here's the final verdict — the authoritative output, fully traceable back through every step that produced it."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7 — History: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"If I open History, you can see this run was saved automatically — I can revisit it anytime without re-running anything."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Closing line: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"Every single step you just watched was a real call to Claude — nothing here was staged."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br>
              <a:rPr lang="en-US"/>
            </a:b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8 — Key Takeaways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Heading: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"So, bringing this back to Cotiviti."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"This gives explainable, defensible AI for exactly the kind of regulated workflows Cotiviti operates in."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"It's directly applicable to payment integrity and risk adjustment — Cotiviti's core business."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"And the same pattern extends naturally to coding, quality, and other audit workflows — this isn't a one-off, it's reusable."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Closing: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"Thank you — I'm happy to take any questions."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917400" y="1039075"/>
            <a:ext cx="6251100" cy="25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17400" y="3648825"/>
            <a:ext cx="6251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5670067" y="-2301750"/>
            <a:ext cx="4653530" cy="4653530"/>
            <a:chOff x="5944525" y="803950"/>
            <a:chExt cx="3086100" cy="3086100"/>
          </a:xfrm>
        </p:grpSpPr>
        <p:sp>
          <p:nvSpPr>
            <p:cNvPr id="13" name="Google Shape;13;p2"/>
            <p:cNvSpPr/>
            <p:nvPr/>
          </p:nvSpPr>
          <p:spPr>
            <a:xfrm>
              <a:off x="5944525" y="803950"/>
              <a:ext cx="3086100" cy="30861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370075" y="1229650"/>
              <a:ext cx="2235000" cy="22347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26350" y="1685775"/>
              <a:ext cx="1322700" cy="13227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-1319500" y="-1578575"/>
            <a:ext cx="9263200" cy="7294025"/>
            <a:chOff x="-1319500" y="-1578575"/>
            <a:chExt cx="9263200" cy="7294025"/>
          </a:xfrm>
        </p:grpSpPr>
        <p:sp>
          <p:nvSpPr>
            <p:cNvPr id="17" name="Google Shape;17;p2"/>
            <p:cNvSpPr/>
            <p:nvPr/>
          </p:nvSpPr>
          <p:spPr>
            <a:xfrm>
              <a:off x="6787500" y="4559250"/>
              <a:ext cx="1156200" cy="11562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319500" y="-1578575"/>
              <a:ext cx="2674500" cy="2674500"/>
            </a:xfrm>
            <a:prstGeom prst="ellipse">
              <a:avLst/>
            </a:prstGeom>
            <a:noFill/>
            <a:ln cap="flat" cmpd="sng" w="1143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8197889" y="1567990"/>
            <a:ext cx="1757217" cy="1254729"/>
            <a:chOff x="1192925" y="473588"/>
            <a:chExt cx="5896700" cy="4210500"/>
          </a:xfrm>
        </p:grpSpPr>
        <p:sp>
          <p:nvSpPr>
            <p:cNvPr id="20" name="Google Shape;20;p2"/>
            <p:cNvSpPr/>
            <p:nvPr/>
          </p:nvSpPr>
          <p:spPr>
            <a:xfrm>
              <a:off x="11929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0115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8301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6487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4673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2859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1045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9231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1929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0115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8301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6487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4673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2859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1045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9231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1929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115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8301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6487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4673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2859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1045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9231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1929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0115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8301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6487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44673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2859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1045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9231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1929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0115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8301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6487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4673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52859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1045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9231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1929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0115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8301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6487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4673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52859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1045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9231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8;p2"/>
          <p:cNvGrpSpPr/>
          <p:nvPr/>
        </p:nvGrpSpPr>
        <p:grpSpPr>
          <a:xfrm>
            <a:off x="7611683" y="3410133"/>
            <a:ext cx="1444347" cy="1426957"/>
            <a:chOff x="7611683" y="3410133"/>
            <a:chExt cx="1444347" cy="1426957"/>
          </a:xfrm>
        </p:grpSpPr>
        <p:grpSp>
          <p:nvGrpSpPr>
            <p:cNvPr id="69" name="Google Shape;69;p2"/>
            <p:cNvGrpSpPr/>
            <p:nvPr/>
          </p:nvGrpSpPr>
          <p:grpSpPr>
            <a:xfrm>
              <a:off x="7611683" y="3638640"/>
              <a:ext cx="409501" cy="409501"/>
              <a:chOff x="7156475" y="1911025"/>
              <a:chExt cx="1254600" cy="1254600"/>
            </a:xfrm>
          </p:grpSpPr>
          <p:sp>
            <p:nvSpPr>
              <p:cNvPr id="70" name="Google Shape;70;p2"/>
              <p:cNvSpPr/>
              <p:nvPr/>
            </p:nvSpPr>
            <p:spPr>
              <a:xfrm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 rot="-5400000"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" name="Google Shape;72;p2"/>
            <p:cNvGrpSpPr/>
            <p:nvPr/>
          </p:nvGrpSpPr>
          <p:grpSpPr>
            <a:xfrm>
              <a:off x="7920854" y="3990988"/>
              <a:ext cx="846102" cy="846102"/>
              <a:chOff x="7156475" y="1911025"/>
              <a:chExt cx="1254600" cy="1254600"/>
            </a:xfrm>
          </p:grpSpPr>
          <p:sp>
            <p:nvSpPr>
              <p:cNvPr id="73" name="Google Shape;73;p2"/>
              <p:cNvSpPr/>
              <p:nvPr/>
            </p:nvSpPr>
            <p:spPr>
              <a:xfrm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5400000"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8520190" y="3410133"/>
              <a:ext cx="535840" cy="535840"/>
              <a:chOff x="7156475" y="1911025"/>
              <a:chExt cx="1254600" cy="1254600"/>
            </a:xfrm>
          </p:grpSpPr>
          <p:sp>
            <p:nvSpPr>
              <p:cNvPr id="76" name="Google Shape;76;p2"/>
              <p:cNvSpPr/>
              <p:nvPr/>
            </p:nvSpPr>
            <p:spPr>
              <a:xfrm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 rot="-5400000"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 txBox="1"/>
          <p:nvPr>
            <p:ph type="title"/>
          </p:nvPr>
        </p:nvSpPr>
        <p:spPr>
          <a:xfrm>
            <a:off x="720000" y="445025"/>
            <a:ext cx="75930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1" name="Google Shape;81;p3"/>
          <p:cNvSpPr txBox="1"/>
          <p:nvPr>
            <p:ph idx="1" type="body"/>
          </p:nvPr>
        </p:nvSpPr>
        <p:spPr>
          <a:xfrm>
            <a:off x="720000" y="1711500"/>
            <a:ext cx="4009200" cy="2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2" name="Google Shape;82;p3"/>
          <p:cNvSpPr/>
          <p:nvPr>
            <p:ph idx="2" type="pic"/>
          </p:nvPr>
        </p:nvSpPr>
        <p:spPr>
          <a:xfrm>
            <a:off x="5596300" y="1352575"/>
            <a:ext cx="2512500" cy="3251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3" name="Google Shape;83;p3"/>
          <p:cNvGrpSpPr/>
          <p:nvPr/>
        </p:nvGrpSpPr>
        <p:grpSpPr>
          <a:xfrm>
            <a:off x="7276416" y="-758374"/>
            <a:ext cx="3129305" cy="3129305"/>
            <a:chOff x="5944525" y="803950"/>
            <a:chExt cx="3086100" cy="3086100"/>
          </a:xfrm>
        </p:grpSpPr>
        <p:sp>
          <p:nvSpPr>
            <p:cNvPr id="84" name="Google Shape;84;p3"/>
            <p:cNvSpPr/>
            <p:nvPr/>
          </p:nvSpPr>
          <p:spPr>
            <a:xfrm>
              <a:off x="5944525" y="803950"/>
              <a:ext cx="3086100" cy="30861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6370075" y="1229650"/>
              <a:ext cx="2235000" cy="22347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6826350" y="1685775"/>
              <a:ext cx="1322700" cy="13227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3"/>
          <p:cNvSpPr/>
          <p:nvPr/>
        </p:nvSpPr>
        <p:spPr>
          <a:xfrm>
            <a:off x="-1382525" y="3679475"/>
            <a:ext cx="1959900" cy="1959900"/>
          </a:xfrm>
          <a:prstGeom prst="ellipse">
            <a:avLst/>
          </a:prstGeom>
          <a:noFill/>
          <a:ln cap="flat" cmpd="sng" w="1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91" name="Google Shape;91;p4"/>
          <p:cNvGrpSpPr/>
          <p:nvPr/>
        </p:nvGrpSpPr>
        <p:grpSpPr>
          <a:xfrm>
            <a:off x="6438755" y="2484715"/>
            <a:ext cx="4095255" cy="4095255"/>
            <a:chOff x="5944525" y="803950"/>
            <a:chExt cx="3086100" cy="3086100"/>
          </a:xfrm>
        </p:grpSpPr>
        <p:sp>
          <p:nvSpPr>
            <p:cNvPr id="92" name="Google Shape;92;p4"/>
            <p:cNvSpPr/>
            <p:nvPr/>
          </p:nvSpPr>
          <p:spPr>
            <a:xfrm>
              <a:off x="5944525" y="803950"/>
              <a:ext cx="3086100" cy="30861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6370075" y="1229650"/>
              <a:ext cx="2235000" cy="22347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6826350" y="1685775"/>
              <a:ext cx="1322700" cy="13227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4"/>
          <p:cNvSpPr/>
          <p:nvPr/>
        </p:nvSpPr>
        <p:spPr>
          <a:xfrm>
            <a:off x="-329575" y="4329550"/>
            <a:ext cx="1156200" cy="1156200"/>
          </a:xfrm>
          <a:prstGeom prst="ellipse">
            <a:avLst/>
          </a:prstGeom>
          <a:noFill/>
          <a:ln cap="flat" cmpd="sng" w="1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4"/>
          <p:cNvGrpSpPr/>
          <p:nvPr/>
        </p:nvGrpSpPr>
        <p:grpSpPr>
          <a:xfrm>
            <a:off x="7816889" y="348790"/>
            <a:ext cx="1757217" cy="1254729"/>
            <a:chOff x="1192925" y="473588"/>
            <a:chExt cx="5896700" cy="4210500"/>
          </a:xfrm>
        </p:grpSpPr>
        <p:sp>
          <p:nvSpPr>
            <p:cNvPr id="97" name="Google Shape;97;p4"/>
            <p:cNvSpPr/>
            <p:nvPr/>
          </p:nvSpPr>
          <p:spPr>
            <a:xfrm>
              <a:off x="11929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20115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28301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36487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44673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52859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61045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6923125" y="473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11929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20115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28301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36487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44673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52859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61045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6923125" y="12823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11929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20115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28301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36487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44673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52859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61045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6923125" y="20911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11929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20115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28301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36487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44673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2859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61045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6923125" y="28999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11929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20115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28301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36487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44673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52859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61045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923125" y="37087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11929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20115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28301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36487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44673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52859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61045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6923125" y="4517588"/>
              <a:ext cx="166500" cy="16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8" name="Google Shape;148;p5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49" name="Google Shape;149;p5"/>
          <p:cNvGrpSpPr/>
          <p:nvPr/>
        </p:nvGrpSpPr>
        <p:grpSpPr>
          <a:xfrm>
            <a:off x="-1276558" y="-1887639"/>
            <a:ext cx="12222370" cy="9742569"/>
            <a:chOff x="-1276558" y="-1887639"/>
            <a:chExt cx="12222370" cy="9742569"/>
          </a:xfrm>
        </p:grpSpPr>
        <p:grpSp>
          <p:nvGrpSpPr>
            <p:cNvPr id="150" name="Google Shape;150;p5"/>
            <p:cNvGrpSpPr/>
            <p:nvPr/>
          </p:nvGrpSpPr>
          <p:grpSpPr>
            <a:xfrm>
              <a:off x="-1276558" y="3201400"/>
              <a:ext cx="4653530" cy="4653530"/>
              <a:chOff x="5944525" y="803950"/>
              <a:chExt cx="3086100" cy="3086100"/>
            </a:xfrm>
          </p:grpSpPr>
          <p:sp>
            <p:nvSpPr>
              <p:cNvPr id="151" name="Google Shape;151;p5"/>
              <p:cNvSpPr/>
              <p:nvPr/>
            </p:nvSpPr>
            <p:spPr>
              <a:xfrm>
                <a:off x="5944525" y="803950"/>
                <a:ext cx="3086100" cy="30861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6370075" y="1229650"/>
                <a:ext cx="2235000" cy="22347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6826350" y="1685775"/>
                <a:ext cx="1322700" cy="13227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" name="Google Shape;154;p5"/>
            <p:cNvGrpSpPr/>
            <p:nvPr/>
          </p:nvGrpSpPr>
          <p:grpSpPr>
            <a:xfrm>
              <a:off x="7705098" y="-1887639"/>
              <a:ext cx="3240714" cy="3240714"/>
              <a:chOff x="5944525" y="803950"/>
              <a:chExt cx="3086100" cy="3086100"/>
            </a:xfrm>
          </p:grpSpPr>
          <p:sp>
            <p:nvSpPr>
              <p:cNvPr id="155" name="Google Shape;155;p5"/>
              <p:cNvSpPr/>
              <p:nvPr/>
            </p:nvSpPr>
            <p:spPr>
              <a:xfrm>
                <a:off x="5944525" y="803950"/>
                <a:ext cx="3086100" cy="30861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6370075" y="1229650"/>
                <a:ext cx="2235000" cy="22347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6826350" y="1685775"/>
                <a:ext cx="1322700" cy="13227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8" name="Google Shape;158;p5"/>
          <p:cNvSpPr/>
          <p:nvPr/>
        </p:nvSpPr>
        <p:spPr>
          <a:xfrm>
            <a:off x="827975" y="-564750"/>
            <a:ext cx="2674500" cy="2674500"/>
          </a:xfrm>
          <a:prstGeom prst="ellipse">
            <a:avLst/>
          </a:prstGeom>
          <a:noFill/>
          <a:ln cap="flat" cmpd="sng" w="1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6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 txBox="1"/>
          <p:nvPr>
            <p:ph type="title"/>
          </p:nvPr>
        </p:nvSpPr>
        <p:spPr>
          <a:xfrm>
            <a:off x="720000" y="1535025"/>
            <a:ext cx="323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8"/>
          <p:cNvSpPr txBox="1"/>
          <p:nvPr>
            <p:ph idx="1" type="subTitle"/>
          </p:nvPr>
        </p:nvSpPr>
        <p:spPr>
          <a:xfrm>
            <a:off x="720000" y="2163375"/>
            <a:ext cx="3580500" cy="1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8"/>
          <p:cNvSpPr/>
          <p:nvPr>
            <p:ph idx="2" type="pic"/>
          </p:nvPr>
        </p:nvSpPr>
        <p:spPr>
          <a:xfrm>
            <a:off x="5268375" y="162000"/>
            <a:ext cx="3580500" cy="48195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8"/>
          <p:cNvSpPr/>
          <p:nvPr>
            <p:ph idx="3" type="pic"/>
          </p:nvPr>
        </p:nvSpPr>
        <p:spPr>
          <a:xfrm>
            <a:off x="496900" y="2936300"/>
            <a:ext cx="4545900" cy="20451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9" name="Google Shape;169;p8"/>
          <p:cNvGrpSpPr/>
          <p:nvPr/>
        </p:nvGrpSpPr>
        <p:grpSpPr>
          <a:xfrm>
            <a:off x="7743385" y="3038588"/>
            <a:ext cx="2516097" cy="2516097"/>
            <a:chOff x="5944525" y="803950"/>
            <a:chExt cx="3086100" cy="3086100"/>
          </a:xfrm>
        </p:grpSpPr>
        <p:sp>
          <p:nvSpPr>
            <p:cNvPr id="170" name="Google Shape;170;p8"/>
            <p:cNvSpPr/>
            <p:nvPr/>
          </p:nvSpPr>
          <p:spPr>
            <a:xfrm>
              <a:off x="5944525" y="803950"/>
              <a:ext cx="3086100" cy="30861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370075" y="1229650"/>
              <a:ext cx="2235000" cy="22347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6826350" y="1685775"/>
              <a:ext cx="1322700" cy="13227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9"/>
          <p:cNvGrpSpPr/>
          <p:nvPr/>
        </p:nvGrpSpPr>
        <p:grpSpPr>
          <a:xfrm>
            <a:off x="7528754" y="3349733"/>
            <a:ext cx="2975926" cy="2975926"/>
            <a:chOff x="5944525" y="803950"/>
            <a:chExt cx="3086100" cy="3086100"/>
          </a:xfrm>
        </p:grpSpPr>
        <p:sp>
          <p:nvSpPr>
            <p:cNvPr id="176" name="Google Shape;176;p9"/>
            <p:cNvSpPr/>
            <p:nvPr/>
          </p:nvSpPr>
          <p:spPr>
            <a:xfrm>
              <a:off x="5944525" y="803950"/>
              <a:ext cx="3086100" cy="30861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6370075" y="1229650"/>
              <a:ext cx="2235000" cy="22347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6826350" y="1685775"/>
              <a:ext cx="1322700" cy="13227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" name="Google Shape;179;p9"/>
          <p:cNvSpPr/>
          <p:nvPr/>
        </p:nvSpPr>
        <p:spPr>
          <a:xfrm>
            <a:off x="7962150" y="-826975"/>
            <a:ext cx="1844700" cy="1844700"/>
          </a:xfrm>
          <a:prstGeom prst="ellipse">
            <a:avLst/>
          </a:prstGeom>
          <a:noFill/>
          <a:ln cap="flat" cmpd="sng" w="1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9"/>
          <p:cNvGrpSpPr/>
          <p:nvPr/>
        </p:nvGrpSpPr>
        <p:grpSpPr>
          <a:xfrm flipH="1">
            <a:off x="-556902" y="3971242"/>
            <a:ext cx="1444347" cy="1426957"/>
            <a:chOff x="7611683" y="3410133"/>
            <a:chExt cx="1444347" cy="1426957"/>
          </a:xfrm>
        </p:grpSpPr>
        <p:grpSp>
          <p:nvGrpSpPr>
            <p:cNvPr id="181" name="Google Shape;181;p9"/>
            <p:cNvGrpSpPr/>
            <p:nvPr/>
          </p:nvGrpSpPr>
          <p:grpSpPr>
            <a:xfrm>
              <a:off x="7611683" y="3638640"/>
              <a:ext cx="409501" cy="409501"/>
              <a:chOff x="7156475" y="1911025"/>
              <a:chExt cx="1254600" cy="1254600"/>
            </a:xfrm>
          </p:grpSpPr>
          <p:sp>
            <p:nvSpPr>
              <p:cNvPr id="182" name="Google Shape;182;p9"/>
              <p:cNvSpPr/>
              <p:nvPr/>
            </p:nvSpPr>
            <p:spPr>
              <a:xfrm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9"/>
              <p:cNvSpPr/>
              <p:nvPr/>
            </p:nvSpPr>
            <p:spPr>
              <a:xfrm rot="-5400000"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4" name="Google Shape;184;p9"/>
            <p:cNvGrpSpPr/>
            <p:nvPr/>
          </p:nvGrpSpPr>
          <p:grpSpPr>
            <a:xfrm>
              <a:off x="7920854" y="3990988"/>
              <a:ext cx="846102" cy="846102"/>
              <a:chOff x="7156475" y="1911025"/>
              <a:chExt cx="1254600" cy="1254600"/>
            </a:xfrm>
          </p:grpSpPr>
          <p:sp>
            <p:nvSpPr>
              <p:cNvPr id="185" name="Google Shape;185;p9"/>
              <p:cNvSpPr/>
              <p:nvPr/>
            </p:nvSpPr>
            <p:spPr>
              <a:xfrm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 rot="-5400000"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9"/>
            <p:cNvGrpSpPr/>
            <p:nvPr/>
          </p:nvGrpSpPr>
          <p:grpSpPr>
            <a:xfrm>
              <a:off x="8520190" y="3410133"/>
              <a:ext cx="535840" cy="535840"/>
              <a:chOff x="7156475" y="1911025"/>
              <a:chExt cx="1254600" cy="1254600"/>
            </a:xfrm>
          </p:grpSpPr>
          <p:sp>
            <p:nvSpPr>
              <p:cNvPr id="188" name="Google Shape;188;p9"/>
              <p:cNvSpPr/>
              <p:nvPr/>
            </p:nvSpPr>
            <p:spPr>
              <a:xfrm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9"/>
              <p:cNvSpPr/>
              <p:nvPr/>
            </p:nvSpPr>
            <p:spPr>
              <a:xfrm rot="-5400000"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10"/>
          <p:cNvGrpSpPr/>
          <p:nvPr/>
        </p:nvGrpSpPr>
        <p:grpSpPr>
          <a:xfrm>
            <a:off x="-1786008" y="-1986350"/>
            <a:ext cx="12544413" cy="8686897"/>
            <a:chOff x="-1786008" y="-1986350"/>
            <a:chExt cx="12544413" cy="8686897"/>
          </a:xfrm>
        </p:grpSpPr>
        <p:grpSp>
          <p:nvGrpSpPr>
            <p:cNvPr id="193" name="Google Shape;193;p10"/>
            <p:cNvGrpSpPr/>
            <p:nvPr/>
          </p:nvGrpSpPr>
          <p:grpSpPr>
            <a:xfrm>
              <a:off x="-1786008" y="-1986350"/>
              <a:ext cx="4653530" cy="4653530"/>
              <a:chOff x="5944525" y="803950"/>
              <a:chExt cx="3086100" cy="3086100"/>
            </a:xfrm>
          </p:grpSpPr>
          <p:sp>
            <p:nvSpPr>
              <p:cNvPr id="194" name="Google Shape;194;p10"/>
              <p:cNvSpPr/>
              <p:nvPr/>
            </p:nvSpPr>
            <p:spPr>
              <a:xfrm>
                <a:off x="5944525" y="803950"/>
                <a:ext cx="3086100" cy="30861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0"/>
              <p:cNvSpPr/>
              <p:nvPr/>
            </p:nvSpPr>
            <p:spPr>
              <a:xfrm>
                <a:off x="6370075" y="1229650"/>
                <a:ext cx="2235000" cy="22347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0"/>
              <p:cNvSpPr/>
              <p:nvPr/>
            </p:nvSpPr>
            <p:spPr>
              <a:xfrm>
                <a:off x="6826350" y="1685775"/>
                <a:ext cx="1322700" cy="13227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10"/>
            <p:cNvGrpSpPr/>
            <p:nvPr/>
          </p:nvGrpSpPr>
          <p:grpSpPr>
            <a:xfrm>
              <a:off x="7035334" y="2977476"/>
              <a:ext cx="3723071" cy="3723071"/>
              <a:chOff x="5944525" y="803950"/>
              <a:chExt cx="3086100" cy="3086100"/>
            </a:xfrm>
          </p:grpSpPr>
          <p:sp>
            <p:nvSpPr>
              <p:cNvPr id="198" name="Google Shape;198;p10"/>
              <p:cNvSpPr/>
              <p:nvPr/>
            </p:nvSpPr>
            <p:spPr>
              <a:xfrm>
                <a:off x="5944525" y="803950"/>
                <a:ext cx="3086100" cy="30861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0"/>
              <p:cNvSpPr/>
              <p:nvPr/>
            </p:nvSpPr>
            <p:spPr>
              <a:xfrm>
                <a:off x="6370075" y="1229650"/>
                <a:ext cx="2235000" cy="22347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0"/>
              <p:cNvSpPr/>
              <p:nvPr/>
            </p:nvSpPr>
            <p:spPr>
              <a:xfrm>
                <a:off x="6826350" y="1685775"/>
                <a:ext cx="1322700" cy="13227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1" name="Google Shape;201;p10"/>
          <p:cNvSpPr/>
          <p:nvPr/>
        </p:nvSpPr>
        <p:spPr>
          <a:xfrm>
            <a:off x="-1129600" y="1700700"/>
            <a:ext cx="1844700" cy="1844700"/>
          </a:xfrm>
          <a:prstGeom prst="ellipse">
            <a:avLst/>
          </a:prstGeom>
          <a:noFill/>
          <a:ln cap="flat" cmpd="sng" w="1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10"/>
          <p:cNvGrpSpPr/>
          <p:nvPr/>
        </p:nvGrpSpPr>
        <p:grpSpPr>
          <a:xfrm flipH="1">
            <a:off x="7841357" y="3135033"/>
            <a:ext cx="1444347" cy="1426957"/>
            <a:chOff x="7611683" y="3410133"/>
            <a:chExt cx="1444347" cy="1426957"/>
          </a:xfrm>
        </p:grpSpPr>
        <p:grpSp>
          <p:nvGrpSpPr>
            <p:cNvPr id="203" name="Google Shape;203;p10"/>
            <p:cNvGrpSpPr/>
            <p:nvPr/>
          </p:nvGrpSpPr>
          <p:grpSpPr>
            <a:xfrm>
              <a:off x="7611683" y="3638640"/>
              <a:ext cx="409501" cy="409501"/>
              <a:chOff x="7156475" y="1911025"/>
              <a:chExt cx="1254600" cy="1254600"/>
            </a:xfrm>
          </p:grpSpPr>
          <p:sp>
            <p:nvSpPr>
              <p:cNvPr id="204" name="Google Shape;204;p10"/>
              <p:cNvSpPr/>
              <p:nvPr/>
            </p:nvSpPr>
            <p:spPr>
              <a:xfrm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10"/>
              <p:cNvSpPr/>
              <p:nvPr/>
            </p:nvSpPr>
            <p:spPr>
              <a:xfrm rot="-5400000"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206;p10"/>
            <p:cNvGrpSpPr/>
            <p:nvPr/>
          </p:nvGrpSpPr>
          <p:grpSpPr>
            <a:xfrm>
              <a:off x="7920854" y="3990988"/>
              <a:ext cx="846102" cy="846102"/>
              <a:chOff x="7156475" y="1911025"/>
              <a:chExt cx="1254600" cy="1254600"/>
            </a:xfrm>
          </p:grpSpPr>
          <p:sp>
            <p:nvSpPr>
              <p:cNvPr id="207" name="Google Shape;207;p10"/>
              <p:cNvSpPr/>
              <p:nvPr/>
            </p:nvSpPr>
            <p:spPr>
              <a:xfrm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0"/>
              <p:cNvSpPr/>
              <p:nvPr/>
            </p:nvSpPr>
            <p:spPr>
              <a:xfrm rot="-5400000"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9" name="Google Shape;209;p10"/>
            <p:cNvGrpSpPr/>
            <p:nvPr/>
          </p:nvGrpSpPr>
          <p:grpSpPr>
            <a:xfrm>
              <a:off x="8520190" y="3410133"/>
              <a:ext cx="535840" cy="535840"/>
              <a:chOff x="7156475" y="1911025"/>
              <a:chExt cx="1254600" cy="1254600"/>
            </a:xfrm>
          </p:grpSpPr>
          <p:sp>
            <p:nvSpPr>
              <p:cNvPr id="210" name="Google Shape;210;p10"/>
              <p:cNvSpPr/>
              <p:nvPr/>
            </p:nvSpPr>
            <p:spPr>
              <a:xfrm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0"/>
              <p:cNvSpPr/>
              <p:nvPr/>
            </p:nvSpPr>
            <p:spPr>
              <a:xfrm rot="-5400000">
                <a:off x="7602575" y="1911025"/>
                <a:ext cx="362400" cy="1254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tpo-agentic-reviewer.vercel.app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 txBox="1"/>
          <p:nvPr>
            <p:ph type="ctrTitle"/>
          </p:nvPr>
        </p:nvSpPr>
        <p:spPr>
          <a:xfrm>
            <a:off x="917400" y="1039075"/>
            <a:ext cx="6251100" cy="25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4400"/>
              <a:t>Agentic AI &amp; Pattern Recognition for TPO</a:t>
            </a:r>
            <a:br>
              <a:rPr lang="en-US" sz="4400"/>
            </a:br>
            <a:br>
              <a:rPr lang="en-US" sz="1800"/>
            </a:br>
            <a:r>
              <a:rPr i="1" lang="en-US" sz="1600">
                <a:solidFill>
                  <a:srgbClr val="6F67E0"/>
                </a:solidFill>
              </a:rPr>
              <a:t>A Strategic Assessment &amp; Proof of Concept for Cotiviti</a:t>
            </a:r>
            <a:endParaRPr>
              <a:solidFill>
                <a:srgbClr val="6F67E0"/>
              </a:solidFill>
            </a:endParaRPr>
          </a:p>
        </p:txBody>
      </p:sp>
      <p:sp>
        <p:nvSpPr>
          <p:cNvPr id="217" name="Google Shape;217;p11"/>
          <p:cNvSpPr txBox="1"/>
          <p:nvPr>
            <p:ph idx="1" type="subTitle"/>
          </p:nvPr>
        </p:nvSpPr>
        <p:spPr>
          <a:xfrm>
            <a:off x="917400" y="3648825"/>
            <a:ext cx="6251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i="1" lang="en-US" sz="1200"/>
              <a:t>Fabian Christopher</a:t>
            </a:r>
            <a:endParaRPr i="1" sz="1200"/>
          </a:p>
        </p:txBody>
      </p:sp>
      <p:pic>
        <p:nvPicPr>
          <p:cNvPr id="218" name="Google Shape;2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400" y="4432300"/>
            <a:ext cx="137160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/>
          <p:nvPr>
            <p:ph type="title"/>
          </p:nvPr>
        </p:nvSpPr>
        <p:spPr>
          <a:xfrm>
            <a:off x="698589" y="792683"/>
            <a:ext cx="7593000" cy="8461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400"/>
              <a:t>Clinical Decision Making &amp; Pattern Recognition</a:t>
            </a:r>
            <a:br>
              <a:rPr lang="en-US"/>
            </a:br>
            <a:r>
              <a:rPr i="1" lang="en-US" sz="1800">
                <a:solidFill>
                  <a:schemeClr val="accent1"/>
                </a:solidFill>
              </a:rPr>
              <a:t>Seven techniques. One focus: Agentic AI.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4" name="Google Shape;224;p12"/>
          <p:cNvSpPr txBox="1"/>
          <p:nvPr>
            <p:ph idx="1" type="body"/>
          </p:nvPr>
        </p:nvSpPr>
        <p:spPr>
          <a:xfrm>
            <a:off x="906493" y="1711588"/>
            <a:ext cx="6476589" cy="2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Chain reasoning, agentic AI, classification, prediction, inference, clustering, anomaly detection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Applied across </a:t>
            </a:r>
            <a:r>
              <a:rPr lang="en-US">
                <a:solidFill>
                  <a:schemeClr val="accent1"/>
                </a:solidFill>
              </a:rPr>
              <a:t>Treatment, Payment &amp; Operations </a:t>
            </a:r>
            <a:r>
              <a:rPr lang="en-US"/>
              <a:t>(TPO)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Focus: the </a:t>
            </a:r>
            <a:r>
              <a:rPr lang="en-US">
                <a:solidFill>
                  <a:schemeClr val="accent1"/>
                </a:solidFill>
              </a:rPr>
              <a:t>Generator-Critic</a:t>
            </a:r>
            <a:r>
              <a:rPr lang="en-US"/>
              <a:t> agentic pattern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One agent proposes → a second agent audits → final verdict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Grounded in retrieved policy/guideline context</a:t>
            </a:r>
            <a:endParaRPr/>
          </a:p>
        </p:txBody>
      </p:sp>
      <p:grpSp>
        <p:nvGrpSpPr>
          <p:cNvPr id="225" name="Google Shape;225;p12"/>
          <p:cNvGrpSpPr/>
          <p:nvPr/>
        </p:nvGrpSpPr>
        <p:grpSpPr>
          <a:xfrm>
            <a:off x="7383083" y="3791040"/>
            <a:ext cx="409501" cy="409501"/>
            <a:chOff x="7156475" y="1911025"/>
            <a:chExt cx="1254600" cy="1254600"/>
          </a:xfrm>
        </p:grpSpPr>
        <p:sp>
          <p:nvSpPr>
            <p:cNvPr id="226" name="Google Shape;226;p12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2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12"/>
          <p:cNvGrpSpPr/>
          <p:nvPr/>
        </p:nvGrpSpPr>
        <p:grpSpPr>
          <a:xfrm>
            <a:off x="7692254" y="4143388"/>
            <a:ext cx="846102" cy="846102"/>
            <a:chOff x="7156475" y="1911025"/>
            <a:chExt cx="1254600" cy="1254600"/>
          </a:xfrm>
        </p:grpSpPr>
        <p:sp>
          <p:nvSpPr>
            <p:cNvPr id="229" name="Google Shape;229;p12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2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p12"/>
          <p:cNvGrpSpPr/>
          <p:nvPr/>
        </p:nvGrpSpPr>
        <p:grpSpPr>
          <a:xfrm>
            <a:off x="8291590" y="3562533"/>
            <a:ext cx="535840" cy="535840"/>
            <a:chOff x="7156475" y="1911025"/>
            <a:chExt cx="1254600" cy="1254600"/>
          </a:xfrm>
        </p:grpSpPr>
        <p:sp>
          <p:nvSpPr>
            <p:cNvPr id="232" name="Google Shape;232;p12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2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4" name="Google Shape;23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400" y="4432300"/>
            <a:ext cx="137160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/>
          <p:cNvSpPr txBox="1"/>
          <p:nvPr>
            <p:ph type="title"/>
          </p:nvPr>
        </p:nvSpPr>
        <p:spPr>
          <a:xfrm>
            <a:off x="698589" y="792683"/>
            <a:ext cx="7593000" cy="8461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400"/>
              <a:t>Three Trends Converging at Cotiviti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0" name="Google Shape;240;p13"/>
          <p:cNvSpPr txBox="1"/>
          <p:nvPr>
            <p:ph idx="1" type="body"/>
          </p:nvPr>
        </p:nvSpPr>
        <p:spPr>
          <a:xfrm>
            <a:off x="906493" y="1711588"/>
            <a:ext cx="6476589" cy="2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Prepay/post-pay review unifying into earlier review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solidFill>
                  <a:schemeClr val="accent1"/>
                </a:solidFill>
              </a:rPr>
              <a:t>Agentic AI </a:t>
            </a:r>
            <a:r>
              <a:rPr lang="en-US"/>
              <a:t>adoption accelerating - cautiously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Platform consolidation: the 2025 Edifecs acquisition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New CEO's vision: a "</a:t>
            </a:r>
            <a:r>
              <a:rPr lang="en-US">
                <a:solidFill>
                  <a:schemeClr val="accent1"/>
                </a:solidFill>
              </a:rPr>
              <a:t>frictionless ecosystem</a:t>
            </a:r>
            <a:r>
              <a:rPr lang="en-US"/>
              <a:t>”.</a:t>
            </a:r>
            <a:endParaRPr/>
          </a:p>
        </p:txBody>
      </p:sp>
      <p:grpSp>
        <p:nvGrpSpPr>
          <p:cNvPr id="241" name="Google Shape;241;p13"/>
          <p:cNvGrpSpPr/>
          <p:nvPr/>
        </p:nvGrpSpPr>
        <p:grpSpPr>
          <a:xfrm>
            <a:off x="7383083" y="3791040"/>
            <a:ext cx="409501" cy="409501"/>
            <a:chOff x="7156475" y="1911025"/>
            <a:chExt cx="1254600" cy="1254600"/>
          </a:xfrm>
        </p:grpSpPr>
        <p:sp>
          <p:nvSpPr>
            <p:cNvPr id="242" name="Google Shape;242;p13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3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" name="Google Shape;244;p13"/>
          <p:cNvGrpSpPr/>
          <p:nvPr/>
        </p:nvGrpSpPr>
        <p:grpSpPr>
          <a:xfrm>
            <a:off x="7692254" y="4143388"/>
            <a:ext cx="846102" cy="846102"/>
            <a:chOff x="7156475" y="1911025"/>
            <a:chExt cx="1254600" cy="1254600"/>
          </a:xfrm>
        </p:grpSpPr>
        <p:sp>
          <p:nvSpPr>
            <p:cNvPr id="245" name="Google Shape;245;p13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3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13"/>
          <p:cNvGrpSpPr/>
          <p:nvPr/>
        </p:nvGrpSpPr>
        <p:grpSpPr>
          <a:xfrm>
            <a:off x="8291590" y="3562533"/>
            <a:ext cx="535840" cy="535840"/>
            <a:chOff x="7156475" y="1911025"/>
            <a:chExt cx="1254600" cy="1254600"/>
          </a:xfrm>
        </p:grpSpPr>
        <p:sp>
          <p:nvSpPr>
            <p:cNvPr id="248" name="Google Shape;248;p13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3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0" name="Google Shape;2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400" y="4432300"/>
            <a:ext cx="137160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 txBox="1"/>
          <p:nvPr>
            <p:ph type="title"/>
          </p:nvPr>
        </p:nvSpPr>
        <p:spPr>
          <a:xfrm>
            <a:off x="698589" y="694783"/>
            <a:ext cx="75930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400"/>
              <a:t>Balancing Upside and Risk</a:t>
            </a:r>
            <a:br>
              <a:rPr lang="en-US"/>
            </a:br>
            <a:r>
              <a:rPr lang="en-US" sz="1800">
                <a:solidFill>
                  <a:schemeClr val="accent1"/>
                </a:solidFill>
              </a:rPr>
              <a:t>Opportunities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56" name="Google Shape;256;p14"/>
          <p:cNvSpPr txBox="1"/>
          <p:nvPr>
            <p:ph idx="1" type="body"/>
          </p:nvPr>
        </p:nvSpPr>
        <p:spPr>
          <a:xfrm>
            <a:off x="917400" y="1422961"/>
            <a:ext cx="6476589" cy="13240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Explainable, two-step audit trail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Domain-agnostic across payment, coding, quality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Preserves impact, reduces false positives</a:t>
            </a:r>
            <a:endParaRPr/>
          </a:p>
        </p:txBody>
      </p:sp>
      <p:grpSp>
        <p:nvGrpSpPr>
          <p:cNvPr id="257" name="Google Shape;257;p14"/>
          <p:cNvGrpSpPr/>
          <p:nvPr/>
        </p:nvGrpSpPr>
        <p:grpSpPr>
          <a:xfrm>
            <a:off x="7383083" y="3791040"/>
            <a:ext cx="409501" cy="409501"/>
            <a:chOff x="7156475" y="1911025"/>
            <a:chExt cx="1254600" cy="1254600"/>
          </a:xfrm>
        </p:grpSpPr>
        <p:sp>
          <p:nvSpPr>
            <p:cNvPr id="258" name="Google Shape;258;p14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4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14"/>
          <p:cNvGrpSpPr/>
          <p:nvPr/>
        </p:nvGrpSpPr>
        <p:grpSpPr>
          <a:xfrm>
            <a:off x="7692254" y="4143388"/>
            <a:ext cx="846102" cy="846102"/>
            <a:chOff x="7156475" y="1911025"/>
            <a:chExt cx="1254600" cy="1254600"/>
          </a:xfrm>
        </p:grpSpPr>
        <p:sp>
          <p:nvSpPr>
            <p:cNvPr id="261" name="Google Shape;261;p14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4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14"/>
          <p:cNvGrpSpPr/>
          <p:nvPr/>
        </p:nvGrpSpPr>
        <p:grpSpPr>
          <a:xfrm>
            <a:off x="8291590" y="3562533"/>
            <a:ext cx="535840" cy="535840"/>
            <a:chOff x="7156475" y="1911025"/>
            <a:chExt cx="1254600" cy="1254600"/>
          </a:xfrm>
        </p:grpSpPr>
        <p:sp>
          <p:nvSpPr>
            <p:cNvPr id="264" name="Google Shape;264;p14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4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6" name="Google Shape;2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400" y="4432300"/>
            <a:ext cx="13716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4"/>
          <p:cNvSpPr txBox="1"/>
          <p:nvPr/>
        </p:nvSpPr>
        <p:spPr>
          <a:xfrm>
            <a:off x="698589" y="2701734"/>
            <a:ext cx="75930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Threats</a:t>
            </a:r>
            <a:endParaRPr b="1" i="0" sz="30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917400" y="3036002"/>
            <a:ext cx="64767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LLM hallucination risk</a:t>
            </a:r>
            <a:endParaRPr/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Audit must stay independent, not a rubber stamp</a:t>
            </a:r>
            <a:endParaRPr/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Vendor/model lock-in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 txBox="1"/>
          <p:nvPr>
            <p:ph type="title"/>
          </p:nvPr>
        </p:nvSpPr>
        <p:spPr>
          <a:xfrm>
            <a:off x="698589" y="792683"/>
            <a:ext cx="7593000" cy="8461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400"/>
              <a:t>Three Scoped Options for Cotiviti</a:t>
            </a:r>
            <a:br>
              <a:rPr lang="en-US"/>
            </a:br>
            <a:endParaRPr>
              <a:solidFill>
                <a:schemeClr val="accent1"/>
              </a:solidFill>
            </a:endParaRPr>
          </a:p>
        </p:txBody>
      </p:sp>
      <p:sp>
        <p:nvSpPr>
          <p:cNvPr id="274" name="Google Shape;274;p15"/>
          <p:cNvSpPr txBox="1"/>
          <p:nvPr>
            <p:ph idx="1" type="body"/>
          </p:nvPr>
        </p:nvSpPr>
        <p:spPr>
          <a:xfrm>
            <a:off x="906493" y="1711588"/>
            <a:ext cx="6476589" cy="2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1" lang="en-US">
                <a:solidFill>
                  <a:schemeClr val="accent1"/>
                </a:solidFill>
              </a:rPr>
              <a:t>Pilot</a:t>
            </a:r>
            <a:r>
              <a:rPr lang="en-US">
                <a:solidFill>
                  <a:schemeClr val="accent1"/>
                </a:solidFill>
              </a:rPr>
              <a:t> </a:t>
            </a:r>
            <a:r>
              <a:rPr lang="en-US"/>
              <a:t>- explainability overlay on an existing FWA workflow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1" lang="en-US">
                <a:solidFill>
                  <a:schemeClr val="accent1"/>
                </a:solidFill>
              </a:rPr>
              <a:t>Extend</a:t>
            </a:r>
            <a:r>
              <a:rPr lang="en-US">
                <a:solidFill>
                  <a:schemeClr val="accent1"/>
                </a:solidFill>
              </a:rPr>
              <a:t> </a:t>
            </a:r>
            <a:r>
              <a:rPr lang="en-US"/>
              <a:t>- same pattern to risk-adjustment coding review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1" lang="en-US">
                <a:solidFill>
                  <a:schemeClr val="accent1"/>
                </a:solidFill>
              </a:rPr>
              <a:t>Invest</a:t>
            </a:r>
            <a:r>
              <a:rPr lang="en-US"/>
              <a:t> - lightweight retrieval before heavier infrastructure</a:t>
            </a:r>
            <a:endParaRPr/>
          </a:p>
        </p:txBody>
      </p:sp>
      <p:grpSp>
        <p:nvGrpSpPr>
          <p:cNvPr id="275" name="Google Shape;275;p15"/>
          <p:cNvGrpSpPr/>
          <p:nvPr/>
        </p:nvGrpSpPr>
        <p:grpSpPr>
          <a:xfrm>
            <a:off x="7383083" y="3791040"/>
            <a:ext cx="409501" cy="409501"/>
            <a:chOff x="7156475" y="1911025"/>
            <a:chExt cx="1254600" cy="1254600"/>
          </a:xfrm>
        </p:grpSpPr>
        <p:sp>
          <p:nvSpPr>
            <p:cNvPr id="276" name="Google Shape;276;p15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5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" name="Google Shape;278;p15"/>
          <p:cNvGrpSpPr/>
          <p:nvPr/>
        </p:nvGrpSpPr>
        <p:grpSpPr>
          <a:xfrm>
            <a:off x="7692254" y="4143388"/>
            <a:ext cx="846102" cy="846102"/>
            <a:chOff x="7156475" y="1911025"/>
            <a:chExt cx="1254600" cy="1254600"/>
          </a:xfrm>
        </p:grpSpPr>
        <p:sp>
          <p:nvSpPr>
            <p:cNvPr id="279" name="Google Shape;279;p15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5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p15"/>
          <p:cNvGrpSpPr/>
          <p:nvPr/>
        </p:nvGrpSpPr>
        <p:grpSpPr>
          <a:xfrm>
            <a:off x="8291590" y="3562533"/>
            <a:ext cx="535840" cy="535840"/>
            <a:chOff x="7156475" y="1911025"/>
            <a:chExt cx="1254600" cy="1254600"/>
          </a:xfrm>
        </p:grpSpPr>
        <p:sp>
          <p:nvSpPr>
            <p:cNvPr id="282" name="Google Shape;282;p15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5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4" name="Google Shape;28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400" y="4432300"/>
            <a:ext cx="137160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"/>
          <p:cNvSpPr txBox="1"/>
          <p:nvPr>
            <p:ph type="title"/>
          </p:nvPr>
        </p:nvSpPr>
        <p:spPr>
          <a:xfrm>
            <a:off x="698589" y="792683"/>
            <a:ext cx="7593000" cy="8461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400"/>
              <a:t>TPO Agentic Reviewer - How It Works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90" name="Google Shape;290;p16"/>
          <p:cNvSpPr txBox="1"/>
          <p:nvPr>
            <p:ph idx="1" type="body"/>
          </p:nvPr>
        </p:nvSpPr>
        <p:spPr>
          <a:xfrm>
            <a:off x="906493" y="1711588"/>
            <a:ext cx="6476589" cy="2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Two-agent, retrieval-grounded pipeline.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solidFill>
                  <a:schemeClr val="accent1"/>
                </a:solidFill>
              </a:rPr>
              <a:t>Retrieval → Analyst → Auditor → Verdict.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Three Separately Timed Sequential Stages.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Built with </a:t>
            </a:r>
            <a:r>
              <a:rPr lang="en-US">
                <a:solidFill>
                  <a:schemeClr val="accent1"/>
                </a:solidFill>
              </a:rPr>
              <a:t>Next.js, TypeScript, Claude API.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Deliberately simple: no framework, no vector DB.</a:t>
            </a:r>
            <a:endParaRPr/>
          </a:p>
        </p:txBody>
      </p:sp>
      <p:grpSp>
        <p:nvGrpSpPr>
          <p:cNvPr id="291" name="Google Shape;291;p16"/>
          <p:cNvGrpSpPr/>
          <p:nvPr/>
        </p:nvGrpSpPr>
        <p:grpSpPr>
          <a:xfrm>
            <a:off x="7383083" y="3791040"/>
            <a:ext cx="409501" cy="409501"/>
            <a:chOff x="7156475" y="1911025"/>
            <a:chExt cx="1254600" cy="1254600"/>
          </a:xfrm>
        </p:grpSpPr>
        <p:sp>
          <p:nvSpPr>
            <p:cNvPr id="292" name="Google Shape;292;p16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6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p16"/>
          <p:cNvGrpSpPr/>
          <p:nvPr/>
        </p:nvGrpSpPr>
        <p:grpSpPr>
          <a:xfrm>
            <a:off x="7692254" y="4143388"/>
            <a:ext cx="846102" cy="846102"/>
            <a:chOff x="7156475" y="1911025"/>
            <a:chExt cx="1254600" cy="1254600"/>
          </a:xfrm>
        </p:grpSpPr>
        <p:sp>
          <p:nvSpPr>
            <p:cNvPr id="295" name="Google Shape;295;p16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6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Google Shape;297;p16"/>
          <p:cNvGrpSpPr/>
          <p:nvPr/>
        </p:nvGrpSpPr>
        <p:grpSpPr>
          <a:xfrm>
            <a:off x="8291590" y="3562533"/>
            <a:ext cx="535840" cy="535840"/>
            <a:chOff x="7156475" y="1911025"/>
            <a:chExt cx="1254600" cy="1254600"/>
          </a:xfrm>
        </p:grpSpPr>
        <p:sp>
          <p:nvSpPr>
            <p:cNvPr id="298" name="Google Shape;298;p16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6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0" name="Google Shape;3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400" y="4432300"/>
            <a:ext cx="137160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type="title"/>
          </p:nvPr>
        </p:nvSpPr>
        <p:spPr>
          <a:xfrm>
            <a:off x="698589" y="792683"/>
            <a:ext cx="7593000" cy="8461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400"/>
              <a:t>See It In Action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906493" y="1711588"/>
            <a:ext cx="6476589" cy="2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solidFill>
                  <a:srgbClr val="0D0A22"/>
                </a:solidFill>
              </a:rPr>
              <a:t>Live app: </a:t>
            </a:r>
            <a:r>
              <a:rPr i="1" lang="en-US" u="sng">
                <a:solidFill>
                  <a:schemeClr val="hlink"/>
                </a:solidFill>
                <a:hlinkClick r:id="rId3"/>
              </a:rPr>
              <a:t>tpo-agentic-reviewer.vercel.app</a:t>
            </a:r>
            <a:endParaRPr i="1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Upload or select a sample record.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Watch each stage run live.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Click any step to inspect its reasoning.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Review history saved automatically.</a:t>
            </a:r>
            <a:endParaRPr/>
          </a:p>
        </p:txBody>
      </p:sp>
      <p:grpSp>
        <p:nvGrpSpPr>
          <p:cNvPr id="307" name="Google Shape;307;p17"/>
          <p:cNvGrpSpPr/>
          <p:nvPr/>
        </p:nvGrpSpPr>
        <p:grpSpPr>
          <a:xfrm>
            <a:off x="7383083" y="3791040"/>
            <a:ext cx="409501" cy="409501"/>
            <a:chOff x="7156475" y="1911025"/>
            <a:chExt cx="1254600" cy="1254600"/>
          </a:xfrm>
        </p:grpSpPr>
        <p:sp>
          <p:nvSpPr>
            <p:cNvPr id="308" name="Google Shape;308;p17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7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0" name="Google Shape;310;p17"/>
          <p:cNvGrpSpPr/>
          <p:nvPr/>
        </p:nvGrpSpPr>
        <p:grpSpPr>
          <a:xfrm>
            <a:off x="7692254" y="4143388"/>
            <a:ext cx="846102" cy="846102"/>
            <a:chOff x="7156475" y="1911025"/>
            <a:chExt cx="1254600" cy="1254600"/>
          </a:xfrm>
        </p:grpSpPr>
        <p:sp>
          <p:nvSpPr>
            <p:cNvPr id="311" name="Google Shape;311;p17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7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" name="Google Shape;313;p17"/>
          <p:cNvGrpSpPr/>
          <p:nvPr/>
        </p:nvGrpSpPr>
        <p:grpSpPr>
          <a:xfrm>
            <a:off x="8291590" y="3562533"/>
            <a:ext cx="535840" cy="535840"/>
            <a:chOff x="7156475" y="1911025"/>
            <a:chExt cx="1254600" cy="1254600"/>
          </a:xfrm>
        </p:grpSpPr>
        <p:sp>
          <p:nvSpPr>
            <p:cNvPr id="314" name="Google Shape;314;p17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7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6" name="Google Shape;3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400" y="4432300"/>
            <a:ext cx="137160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 txBox="1"/>
          <p:nvPr>
            <p:ph type="title"/>
          </p:nvPr>
        </p:nvSpPr>
        <p:spPr>
          <a:xfrm>
            <a:off x="698589" y="792683"/>
            <a:ext cx="7593000" cy="8461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400"/>
              <a:t>Key Takeaways</a:t>
            </a:r>
            <a:br>
              <a:rPr lang="en-US"/>
            </a:br>
            <a:endParaRPr>
              <a:solidFill>
                <a:schemeClr val="accent1"/>
              </a:solidFill>
            </a:endParaRPr>
          </a:p>
        </p:txBody>
      </p:sp>
      <p:sp>
        <p:nvSpPr>
          <p:cNvPr id="322" name="Google Shape;322;p18"/>
          <p:cNvSpPr txBox="1"/>
          <p:nvPr>
            <p:ph idx="1" type="body"/>
          </p:nvPr>
        </p:nvSpPr>
        <p:spPr>
          <a:xfrm>
            <a:off x="906493" y="1711588"/>
            <a:ext cx="6476589" cy="2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Explainable, defensible AI for regulated workflows.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Directly applicable to payment integrity &amp; risk adjustment.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The same pattern extends to coding, quality, and other audit workflows.</a:t>
            </a:r>
            <a:endParaRPr/>
          </a:p>
        </p:txBody>
      </p:sp>
      <p:grpSp>
        <p:nvGrpSpPr>
          <p:cNvPr id="323" name="Google Shape;323;p18"/>
          <p:cNvGrpSpPr/>
          <p:nvPr/>
        </p:nvGrpSpPr>
        <p:grpSpPr>
          <a:xfrm>
            <a:off x="7383083" y="3791040"/>
            <a:ext cx="409501" cy="409501"/>
            <a:chOff x="7156475" y="1911025"/>
            <a:chExt cx="1254600" cy="1254600"/>
          </a:xfrm>
        </p:grpSpPr>
        <p:sp>
          <p:nvSpPr>
            <p:cNvPr id="324" name="Google Shape;324;p18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8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" name="Google Shape;326;p18"/>
          <p:cNvGrpSpPr/>
          <p:nvPr/>
        </p:nvGrpSpPr>
        <p:grpSpPr>
          <a:xfrm>
            <a:off x="7692254" y="4143388"/>
            <a:ext cx="846102" cy="846102"/>
            <a:chOff x="7156475" y="1911025"/>
            <a:chExt cx="1254600" cy="1254600"/>
          </a:xfrm>
        </p:grpSpPr>
        <p:sp>
          <p:nvSpPr>
            <p:cNvPr id="327" name="Google Shape;327;p18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8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18"/>
          <p:cNvGrpSpPr/>
          <p:nvPr/>
        </p:nvGrpSpPr>
        <p:grpSpPr>
          <a:xfrm>
            <a:off x="8291590" y="3562533"/>
            <a:ext cx="535840" cy="535840"/>
            <a:chOff x="7156475" y="1911025"/>
            <a:chExt cx="1254600" cy="1254600"/>
          </a:xfrm>
        </p:grpSpPr>
        <p:sp>
          <p:nvSpPr>
            <p:cNvPr id="330" name="Google Shape;330;p18"/>
            <p:cNvSpPr/>
            <p:nvPr/>
          </p:nvSpPr>
          <p:spPr>
            <a:xfrm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8"/>
            <p:cNvSpPr/>
            <p:nvPr/>
          </p:nvSpPr>
          <p:spPr>
            <a:xfrm rot="-5400000">
              <a:off x="7602575" y="1911025"/>
              <a:ext cx="362400" cy="1254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2" name="Google Shape;3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400" y="4432300"/>
            <a:ext cx="137160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stational Diabetes Breakthrough by Slidesgo">
  <a:themeElements>
    <a:clrScheme name="Simple Light">
      <a:dk1>
        <a:srgbClr val="252150"/>
      </a:dk1>
      <a:lt1>
        <a:srgbClr val="ECE7F7"/>
      </a:lt1>
      <a:dk2>
        <a:srgbClr val="D4D0F1"/>
      </a:dk2>
      <a:lt2>
        <a:srgbClr val="BFB6EE"/>
      </a:lt2>
      <a:accent1>
        <a:srgbClr val="7067D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